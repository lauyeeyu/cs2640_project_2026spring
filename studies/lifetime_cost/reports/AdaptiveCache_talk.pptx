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69F00"/>
                </a:solidFill>
                <a:latin typeface="Calibri"/>
              </a:rPr>
              <a:t>ADAPTIVECACHE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57400"/>
            <a:ext cx="10058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Compacting an AI agent's</a:t>
            </a:r>
          </a:p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working memory:</a:t>
            </a:r>
          </a:p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12 ways to drop old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1">
                <a:solidFill>
                  <a:srgbClr val="6077C7"/>
                </a:solidFill>
                <a:latin typeface="Calibri"/>
              </a:rPr>
              <a:t>What we learned from running 12 strategies on real coding and customer-service tasks.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077C7"/>
                </a:solidFill>
                <a:latin typeface="Calibri"/>
              </a:rPr>
              <a:t>Vlad Cainamisir  ·  Harvard  ·  AdaptiveCache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6400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69F00"/>
                </a:solidFill>
                <a:latin typeface="Calibri"/>
              </a:rPr>
              <a:t>WHAT WE RAN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1430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Six months of compaction experiments, in numbers.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331720"/>
            <a:ext cx="2542032" cy="16916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254203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>
                <a:solidFill>
                  <a:srgbClr val="E69F00"/>
                </a:solidFill>
                <a:latin typeface="Calibri"/>
              </a:rPr>
              <a:t>500+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37560"/>
            <a:ext cx="235915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077C7"/>
                </a:solidFill>
                <a:latin typeface="Calibri"/>
              </a:rPr>
              <a:t>agent trajectories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85032" y="2331720"/>
            <a:ext cx="2542032" cy="16916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5032" y="2423160"/>
            <a:ext cx="254203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>
                <a:solidFill>
                  <a:srgbClr val="E69F00"/>
                </a:solidFill>
                <a:latin typeface="Calibri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6472" y="3337560"/>
            <a:ext cx="235915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077C7"/>
                </a:solidFill>
                <a:latin typeface="Calibri"/>
              </a:rPr>
              <a:t>compaction strategies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9944" y="2331720"/>
            <a:ext cx="2542032" cy="16916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2423160"/>
            <a:ext cx="254203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>
                <a:solidFill>
                  <a:srgbClr val="E69F00"/>
                </a:solidFill>
                <a:latin typeface="Calibri"/>
              </a:rPr>
              <a:t>15K+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1383" y="3337560"/>
            <a:ext cx="235915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077C7"/>
                </a:solidFill>
                <a:latin typeface="Calibri"/>
              </a:rPr>
              <a:t>agent steps recorded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34856" y="2331720"/>
            <a:ext cx="2542032" cy="16916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423160"/>
            <a:ext cx="254203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>
                <a:solidFill>
                  <a:srgbClr val="E69F00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296" y="3337560"/>
            <a:ext cx="235915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077C7"/>
                </a:solidFill>
                <a:latin typeface="Calibri"/>
              </a:rPr>
              <a:t>benchmarks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4206240"/>
            <a:ext cx="2542032" cy="16916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97679"/>
            <a:ext cx="254203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>
                <a:solidFill>
                  <a:srgbClr val="E69F00"/>
                </a:solidFill>
                <a:latin typeface="Calibri"/>
              </a:rPr>
              <a:t>500M+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212079"/>
            <a:ext cx="235915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077C7"/>
                </a:solidFill>
                <a:latin typeface="Calibri"/>
              </a:rPr>
              <a:t>input tokens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85032" y="4206240"/>
            <a:ext cx="2542032" cy="16916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5032" y="4297679"/>
            <a:ext cx="254203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>
                <a:solidFill>
                  <a:srgbClr val="E69F00"/>
                </a:solidFill>
                <a:latin typeface="Calibri"/>
              </a:rPr>
              <a:t>25+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5212079"/>
            <a:ext cx="235915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077C7"/>
                </a:solidFill>
                <a:latin typeface="Calibri"/>
              </a:rPr>
              <a:t>experimental phases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9944" y="4206240"/>
            <a:ext cx="2542032" cy="16916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9944" y="4297679"/>
            <a:ext cx="254203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>
                <a:solidFill>
                  <a:srgbClr val="E69F00"/>
                </a:solidFill>
                <a:latin typeface="Calibri"/>
              </a:rPr>
              <a:t>$200+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3" y="5212079"/>
            <a:ext cx="235915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077C7"/>
                </a:solidFill>
                <a:latin typeface="Calibri"/>
              </a:rPr>
              <a:t>Anthropic API spend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34856" y="4206240"/>
            <a:ext cx="2542032" cy="16916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34856" y="4297679"/>
            <a:ext cx="254203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>
                <a:solidFill>
                  <a:srgbClr val="E69F00"/>
                </a:solidFill>
                <a:latin typeface="Calibri"/>
              </a:rPr>
              <a:t>100+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6296" y="5212079"/>
            <a:ext cx="235915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077C7"/>
                </a:solidFill>
                <a:latin typeface="Calibri"/>
              </a:rPr>
              <a:t>GPU hours (Blackwell + SEAS + Modal)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077C7"/>
                </a:solidFill>
                <a:latin typeface="Calibri"/>
              </a:rPr>
              <a:t>Compute  ·  Anthropic Claude Haiku 4.5 (API)  ·  Qwen3-30B-A3B on Blackwell + SEAS cluster + Modal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077C7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077C7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3A8A"/>
                </a:solidFill>
                <a:latin typeface="Calibri"/>
              </a:rPr>
              <a:t>The problem: agent memory grows step by step.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Each tool call (read file, run test, search) adds 100s–1000s of tokens. Eventually we hit the model's limit.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361188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611880" cy="5029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E69F0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Drop old observations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468880"/>
            <a:ext cx="3063240" cy="14173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Pick which past tool outputs to evict from the running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691640"/>
            <a:ext cx="361188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691640"/>
            <a:ext cx="3611880" cy="5029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737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E69F00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17373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Leave a placeholder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468880"/>
            <a:ext cx="3063240" cy="14173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Replace the dropped content with a short marker the agent can still see.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691640"/>
            <a:ext cx="361188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691640"/>
            <a:ext cx="3611880" cy="5029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737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E69F00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17373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Pay for the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468880"/>
            <a:ext cx="3063240" cy="14173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Every rewrite invalidates the prefix cache → input bills uncached at 10× cost.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434840"/>
            <a:ext cx="11091672" cy="64008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526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4255C"/>
                </a:solidFill>
                <a:latin typeface="Calibri"/>
              </a:rPr>
              <a:t>We tested 12 ways of doing steps 1 + 2. The cost of step 3 decides whether they win.</a:t>
            </a:r>
          </a:p>
        </p:txBody>
      </p:sp>
      <p:pic>
        <p:nvPicPr>
          <p:cNvPr id="22" name="Picture 21" descr="fig9_method_family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6112" y="5212080"/>
            <a:ext cx="2456726" cy="1371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3A8A"/>
                </a:solidFill>
                <a:latin typeface="Calibri"/>
              </a:rPr>
              <a:t>The 12 strategies, grouped by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Six families. They differ on what signal they use to decide which observations to compact.</a:t>
            </a:r>
          </a:p>
        </p:txBody>
      </p:sp>
      <p:pic>
        <p:nvPicPr>
          <p:cNvPr id="5" name="Picture 4" descr="fig9_method_family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368" y="1417320"/>
            <a:ext cx="8844215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none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Pareto-dominates on N=10 SWE-bench Lite (Haiku 4.5)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960120"/>
            <a:ext cx="2743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88552" y="96012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E3A8A"/>
                </a:solidFill>
                <a:latin typeface="Calibri"/>
              </a:rPr>
              <a:t>84+ trajectories  ·  20 phases</a:t>
            </a:r>
          </a:p>
        </p:txBody>
      </p:sp>
      <p:pic>
        <p:nvPicPr>
          <p:cNvPr id="10" name="Picture 9" descr="method_01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89595"/>
            <a:ext cx="11091672" cy="377608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9D7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SUMMARIZE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naive_summary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Always loses on cost — every fire writes uncached tokens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960120"/>
            <a:ext cx="2743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88552" y="96012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69F00"/>
                </a:solidFill>
                <a:latin typeface="Calibri"/>
              </a:rPr>
              <a:t>tested on τ-bench airline + SWE-bench Lite</a:t>
            </a:r>
          </a:p>
        </p:txBody>
      </p:sp>
      <p:pic>
        <p:nvPicPr>
          <p:cNvPr id="10" name="Picture 9" descr="method_02_naiv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51494"/>
            <a:ext cx="11091672" cy="44522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9D7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SUMMARIZE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microcompact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Rarely fires — needs an outlier-large observation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960120"/>
            <a:ext cx="2743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88552" y="96012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E3A8A"/>
                </a:solidFill>
                <a:latin typeface="Calibri"/>
              </a:rPr>
              <a:t>10 trajectories  ·  Phase B + C</a:t>
            </a:r>
          </a:p>
        </p:txBody>
      </p:sp>
      <p:pic>
        <p:nvPicPr>
          <p:cNvPr id="10" name="Picture 9" descr="method_03_microco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51494"/>
            <a:ext cx="11091672" cy="44522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9D7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SUMMARIZE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prefix_preserving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Stable cliff cost; loses ~30% on cost vs none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960120"/>
            <a:ext cx="2743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88552" y="96012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69F00"/>
                </a:solidFill>
                <a:latin typeface="Calibri"/>
              </a:rPr>
              <a:t>28 trajectories  ·  7 phases</a:t>
            </a:r>
          </a:p>
        </p:txBody>
      </p:sp>
      <p:pic>
        <p:nvPicPr>
          <p:cNvPr id="10" name="Picture 9" descr="method_04_prefix_preserv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51494"/>
            <a:ext cx="11091672" cy="44522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56B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position_aware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Proto-AdaptiveCache layout; no cost win at our scale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960120"/>
            <a:ext cx="2743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88552" y="96012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E3A8A"/>
                </a:solidFill>
                <a:latin typeface="Calibri"/>
              </a:rPr>
              <a:t>12 trajectories  ·  Phase A + C</a:t>
            </a:r>
          </a:p>
        </p:txBody>
      </p:sp>
      <p:pic>
        <p:nvPicPr>
          <p:cNvPr id="10" name="Picture 9" descr="method_05_position_a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29028"/>
            <a:ext cx="11091672" cy="3697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HEURISTIC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evict_oldest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FIFO baseline — drops irreplaceable old context too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960120"/>
            <a:ext cx="2743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88552" y="96012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69F00"/>
                </a:solidFill>
                <a:latin typeface="Calibri"/>
              </a:rPr>
              <a:t>6 trajectories  ·  Phase C</a:t>
            </a:r>
          </a:p>
        </p:txBody>
      </p:sp>
      <p:pic>
        <p:nvPicPr>
          <p:cNvPr id="10" name="Picture 9" descr="method_06_evict_old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51494"/>
            <a:ext cx="11091672" cy="44522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HEURISTIC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smart_evict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WINS on weak Qwen3 — prevents catastrophic OOC failures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960120"/>
            <a:ext cx="2743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88552" y="96012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9E73"/>
                </a:solidFill>
                <a:latin typeface="Calibri"/>
              </a:rPr>
              <a:t>59 trajectories  ·  14 phases</a:t>
            </a:r>
          </a:p>
        </p:txBody>
      </p:sp>
      <p:pic>
        <p:nvPicPr>
          <p:cNvPr id="10" name="Picture 9" descr="method_07_smart_ev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35540"/>
            <a:ext cx="11091672" cy="428419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LLM-SCORED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score_periodic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LLM scorer overhead exceeds bytes saved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960120"/>
            <a:ext cx="2743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88552" y="96012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69F00"/>
                </a:solidFill>
                <a:latin typeface="Calibri"/>
              </a:rPr>
              <a:t>limited tests  ·  Phase C v8</a:t>
            </a:r>
          </a:p>
        </p:txBody>
      </p:sp>
      <p:pic>
        <p:nvPicPr>
          <p:cNvPr id="10" name="Picture 9" descr="method_08_score_period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51494"/>
            <a:ext cx="11091672" cy="44522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LLM-SCORED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llm_reorganizer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Reorder + score — same overhead 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960120"/>
            <a:ext cx="2743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88552" y="96012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69F00"/>
                </a:solidFill>
                <a:latin typeface="Calibri"/>
              </a:rPr>
              <a:t>30 trajectories  ·  9 phases</a:t>
            </a:r>
          </a:p>
        </p:txBody>
      </p:sp>
      <p:pic>
        <p:nvPicPr>
          <p:cNvPr id="10" name="Picture 9" descr="method_09_llm_reorgan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51494"/>
            <a:ext cx="11091672" cy="44522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ACTION-GRAPH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consumption_evict_plain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WINS pytest-7490 in 4 edits  ·  ties on retail chain (5/10)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960120"/>
            <a:ext cx="2743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88552" y="96012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9E73"/>
                </a:solidFill>
                <a:latin typeface="Calibri"/>
              </a:rPr>
              <a:t>Phase D 2× + Phase E (10 customers)</a:t>
            </a:r>
          </a:p>
        </p:txBody>
      </p:sp>
      <p:pic>
        <p:nvPicPr>
          <p:cNvPr id="10" name="Picture 9" descr="method_10_consumption_evict_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13454"/>
            <a:ext cx="11091672" cy="37283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ACTION-GRAPH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consumption_evict_facts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LOSES pytest-7490 — 18 edits, 0/2 success (mechanism finding)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960120"/>
            <a:ext cx="2743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88552" y="96012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69F00"/>
                </a:solidFill>
                <a:latin typeface="Calibri"/>
              </a:rPr>
              <a:t>Phase D 2×</a:t>
            </a:r>
          </a:p>
        </p:txBody>
      </p:sp>
      <p:pic>
        <p:nvPicPr>
          <p:cNvPr id="10" name="Picture 9" descr="method_11_consumption_evict_fa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73302"/>
            <a:ext cx="11091672" cy="40086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ACTION-GRAPH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consumption_evict_outline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Ties plain on retail chain (5/10) — cleanest design 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960120"/>
            <a:ext cx="2743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88552" y="96012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9E73"/>
                </a:solidFill>
                <a:latin typeface="Calibri"/>
              </a:rPr>
              <a:t>Phase E (10 customers)</a:t>
            </a:r>
          </a:p>
        </p:txBody>
      </p:sp>
      <p:pic>
        <p:nvPicPr>
          <p:cNvPr id="10" name="Picture 9" descr="method_12_consumption_evict_out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51494"/>
            <a:ext cx="11091672" cy="44522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69F00"/>
                </a:solidFill>
                <a:latin typeface="Calibri"/>
              </a:rPr>
              <a:t>WHAT WE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What you leave behind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matters more than what you remove.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077C7"/>
                </a:solidFill>
                <a:latin typeface="Calibri"/>
              </a:rPr>
              <a:t>1.  On strong agents, no compaction beats every heuristic — the cliff tax dominates.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1605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077C7"/>
                </a:solidFill>
                <a:latin typeface="Calibri"/>
              </a:rPr>
              <a:t>2.  Drop-with-hole (no rewrite) is the only family that avoids the tax.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077C7"/>
                </a:solidFill>
                <a:latin typeface="Calibri"/>
              </a:rPr>
              <a:t>3.  Placeholder design dominates: minimal markers win, summaries anchor.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492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077C7"/>
                </a:solidFill>
                <a:latin typeface="Calibri"/>
              </a:rPr>
              <a:t>4.  Compaction wins on weak agents (Qwen3) — preventing context overflow.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077C7"/>
                </a:solidFill>
                <a:latin typeface="Calibri"/>
              </a:rPr>
              <a:t>Thank you.   ·   github.com/vladcainamisir/adaptivecache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077C7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077C7"/>
                </a:solidFill>
                <a:latin typeface="Calibri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